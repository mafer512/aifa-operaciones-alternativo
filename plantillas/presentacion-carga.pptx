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78" r:id="rId3"/>
    <p:sldId id="261" r:id="rId4"/>
    <p:sldId id="262" r:id="rId5"/>
    <p:sldId id="266" r:id="rId6"/>
    <p:sldId id="269" r:id="rId7"/>
    <p:sldId id="263" r:id="rId8"/>
    <p:sldId id="259" r:id="rId9"/>
    <p:sldId id="264" r:id="rId10"/>
    <p:sldId id="260" r:id="rId11"/>
  </p:sldIdLst>
  <p:sldSz cx="9144000" cy="6858000" type="letter"/>
  <p:notesSz cx="7010400" cy="9296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1B32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84" autoAdjust="0"/>
    <p:restoredTop sz="96247" autoAdjust="0"/>
  </p:normalViewPr>
  <p:slideViewPr>
    <p:cSldViewPr snapToGrid="0">
      <p:cViewPr varScale="1">
        <p:scale>
          <a:sx n="107" d="100"/>
          <a:sy n="107" d="100"/>
        </p:scale>
        <p:origin x="1974" y="5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19A285E-E07C-438C-B379-C2FF8A6FD38F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414463" y="1162050"/>
            <a:ext cx="4181475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2CF8BFB9-AE49-4965-965F-77B305C8BEBE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583376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E8B7CF9-58AC-40F3-971E-DD3660CAA8C3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353930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7BE5-D5E9-4C71-B1C2-C8A488BB8058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2C9CD-4779-42B6-8884-ACA1ABB0D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5433437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7BE5-D5E9-4C71-B1C2-C8A488BB8058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2C9CD-4779-42B6-8884-ACA1ABB0D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92137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7BE5-D5E9-4C71-B1C2-C8A488BB8058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2C9CD-4779-42B6-8884-ACA1ABB0D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946304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7BE5-D5E9-4C71-B1C2-C8A488BB8058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2C9CD-4779-42B6-8884-ACA1ABB0D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94303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7BE5-D5E9-4C71-B1C2-C8A488BB8058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2C9CD-4779-42B6-8884-ACA1ABB0D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1465797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7BE5-D5E9-4C71-B1C2-C8A488BB8058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2C9CD-4779-42B6-8884-ACA1ABB0D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236476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7BE5-D5E9-4C71-B1C2-C8A488BB8058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2C9CD-4779-42B6-8884-ACA1ABB0D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200851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7BE5-D5E9-4C71-B1C2-C8A488BB8058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2C9CD-4779-42B6-8884-ACA1ABB0D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68918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7BE5-D5E9-4C71-B1C2-C8A488BB8058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2C9CD-4779-42B6-8884-ACA1ABB0D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3329426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7BE5-D5E9-4C71-B1C2-C8A488BB8058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2C9CD-4779-42B6-8884-ACA1ABB0D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61319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587BE5-D5E9-4C71-B1C2-C8A488BB8058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2C9CD-4779-42B6-8884-ACA1ABB0D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535392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1587BE5-D5E9-4C71-B1C2-C8A488BB8058}" type="datetimeFigureOut">
              <a:rPr lang="es-MX" smtClean="0"/>
              <a:t>09/09/2026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2C9CD-4779-42B6-8884-ACA1ABB0D116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8611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1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7" Type="http://schemas.openxmlformats.org/officeDocument/2006/relationships/image" Target="../media/image17.pn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4.svg"/><Relationship Id="rId4" Type="http://schemas.openxmlformats.org/officeDocument/2006/relationships/image" Target="../media/image10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0A19FBD1-1F45-85AE-908E-ADB9C882A34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9050" y="-1162050"/>
            <a:ext cx="9163050" cy="9163050"/>
          </a:xfrm>
          <a:prstGeom prst="rect">
            <a:avLst/>
          </a:prstGeom>
        </p:spPr>
      </p:pic>
      <p:pic>
        <p:nvPicPr>
          <p:cNvPr id="9" name="Gráfico 8">
            <a:extLst>
              <a:ext uri="{FF2B5EF4-FFF2-40B4-BE49-F238E27FC236}">
                <a16:creationId xmlns:a16="http://schemas.microsoft.com/office/drawing/2014/main" id="{AFE1A393-6565-EF2D-F22A-37218813597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9051" y="6724652"/>
            <a:ext cx="9180000" cy="13735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F518160-EF0A-7688-24C1-77793E8435E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98"/>
          <a:stretch/>
        </p:blipFill>
        <p:spPr>
          <a:xfrm>
            <a:off x="-1" y="1211679"/>
            <a:ext cx="4570949" cy="5532023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BF13F969-DF24-5DEA-C1E6-8D3C8E247C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49374" y="4269435"/>
            <a:ext cx="2837399" cy="704713"/>
          </a:xfrm>
          <a:prstGeom prst="rect">
            <a:avLst/>
          </a:prstGeom>
        </p:spPr>
      </p:pic>
      <p:pic>
        <p:nvPicPr>
          <p:cNvPr id="18" name="Imagen 17">
            <a:extLst>
              <a:ext uri="{FF2B5EF4-FFF2-40B4-BE49-F238E27FC236}">
                <a16:creationId xmlns:a16="http://schemas.microsoft.com/office/drawing/2014/main" id="{8E62B761-7792-153A-EEF3-50A994029111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-59993" r="35826" b="-3"/>
          <a:stretch/>
        </p:blipFill>
        <p:spPr>
          <a:xfrm>
            <a:off x="5029200" y="3423128"/>
            <a:ext cx="4131749" cy="48743"/>
          </a:xfrm>
          <a:prstGeom prst="rect">
            <a:avLst/>
          </a:prstGeom>
        </p:spPr>
      </p:pic>
      <p:pic>
        <p:nvPicPr>
          <p:cNvPr id="2" name="Imagen 1" descr="Imagen que contiene cable&#10;&#10;Descripción generada automáticamente">
            <a:extLst>
              <a:ext uri="{FF2B5EF4-FFF2-40B4-BE49-F238E27FC236}">
                <a16:creationId xmlns:a16="http://schemas.microsoft.com/office/drawing/2014/main" id="{214270EB-C1A4-7831-D7D3-A8F734245DD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25986" y="1211679"/>
            <a:ext cx="1884176" cy="1154794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AA72FCD9-179B-DCD2-CE43-0A088149C93D}"/>
              </a:ext>
            </a:extLst>
          </p:cNvPr>
          <p:cNvSpPr txBox="1"/>
          <p:nvPr/>
        </p:nvSpPr>
        <p:spPr>
          <a:xfrm>
            <a:off x="5242583" y="2262635"/>
            <a:ext cx="37049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dirty="0">
                <a:solidFill>
                  <a:srgbClr val="691B32"/>
                </a:solidFill>
                <a:latin typeface="Patria" pitchFamily="50" charset="0"/>
              </a:rPr>
              <a:t>Aeropuerto Internacional </a:t>
            </a:r>
            <a:r>
              <a:rPr lang="es-MX" sz="2400" b="1" dirty="0">
                <a:solidFill>
                  <a:srgbClr val="691B32"/>
                </a:solidFill>
                <a:latin typeface="Patria" pitchFamily="50" charset="0"/>
              </a:rPr>
              <a:t>“Felipe Ángeles”</a:t>
            </a:r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E7DCEF4D-108A-14E9-C150-B8441CB61C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flipH="1">
            <a:off x="5611215" y="5759792"/>
            <a:ext cx="3541259" cy="624677"/>
          </a:xfrm>
          <a:prstGeom prst="rect">
            <a:avLst/>
          </a:prstGeom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A3D8FAD6-2000-C5F4-3E50-D537A26F5B9E}"/>
              </a:ext>
            </a:extLst>
          </p:cNvPr>
          <p:cNvSpPr txBox="1"/>
          <p:nvPr/>
        </p:nvSpPr>
        <p:spPr>
          <a:xfrm>
            <a:off x="6472961" y="5872075"/>
            <a:ext cx="240602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MX" sz="2000" dirty="0">
                <a:solidFill>
                  <a:srgbClr val="691B32"/>
                </a:solidFill>
                <a:latin typeface="Patria" pitchFamily="50" charset="0"/>
              </a:rPr>
              <a:t>{{MES_ANIO}}</a:t>
            </a:r>
          </a:p>
        </p:txBody>
      </p:sp>
    </p:spTree>
    <p:extLst>
      <p:ext uri="{BB962C8B-B14F-4D97-AF65-F5344CB8AC3E}">
        <p14:creationId xmlns:p14="http://schemas.microsoft.com/office/powerpoint/2010/main" val="2587135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548EF1E7-857B-47D9-1822-84E79370328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711" r="12711"/>
          <a:stretch/>
        </p:blipFill>
        <p:spPr>
          <a:xfrm>
            <a:off x="-13" y="17160"/>
            <a:ext cx="9146407" cy="6858000"/>
          </a:xfrm>
          <a:prstGeom prst="rect">
            <a:avLst/>
          </a:prstGeom>
        </p:spPr>
      </p:pic>
      <p:sp>
        <p:nvSpPr>
          <p:cNvPr id="6" name="CuadroTexto 5">
            <a:extLst>
              <a:ext uri="{FF2B5EF4-FFF2-40B4-BE49-F238E27FC236}">
                <a16:creationId xmlns:a16="http://schemas.microsoft.com/office/drawing/2014/main" id="{8C674DDD-6119-6592-E4B2-6522997FCE1B}"/>
              </a:ext>
            </a:extLst>
          </p:cNvPr>
          <p:cNvSpPr txBox="1"/>
          <p:nvPr/>
        </p:nvSpPr>
        <p:spPr>
          <a:xfrm>
            <a:off x="251587" y="157836"/>
            <a:ext cx="4117171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700" b="1" i="0" u="none" strike="noStrike" kern="1200" cap="none" spc="0" normalizeH="0" baseline="0" noProof="0" dirty="0">
                <a:ln>
                  <a:noFill/>
                </a:ln>
                <a:solidFill>
                  <a:srgbClr val="691B32"/>
                </a:solidFill>
                <a:effectLst/>
                <a:uLnTx/>
                <a:uFillTx/>
                <a:latin typeface="Patria" pitchFamily="50" charset="0"/>
                <a:ea typeface="+mn-ea"/>
                <a:cs typeface="+mn-cs"/>
              </a:rPr>
              <a:t>Operaciones en la Terminal de Carga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700" b="0" i="0" u="none" strike="noStrike" kern="1200" cap="none" spc="0" normalizeH="0" baseline="0" noProof="0" dirty="0">
                <a:ln>
                  <a:noFill/>
                </a:ln>
                <a:solidFill>
                  <a:srgbClr val="691B32"/>
                </a:solidFill>
                <a:effectLst/>
                <a:uLnTx/>
                <a:uFillTx/>
                <a:latin typeface="Patria" pitchFamily="50" charset="0"/>
                <a:ea typeface="+mn-ea"/>
                <a:cs typeface="+mn-cs"/>
              </a:rPr>
              <a:t>01 Ene. al </a:t>
            </a:r>
            <a:r>
              <a:rPr lang="es-MX" sz="1700" dirty="0">
                <a:solidFill>
                  <a:srgbClr val="691B32"/>
                </a:solidFill>
                <a:latin typeface="Patria" pitchFamily="50" charset="0"/>
              </a:rPr>
              <a:t>{{DIA}}</a:t>
            </a:r>
            <a:r>
              <a:rPr kumimoji="0" lang="es-MX" sz="1700" b="0" i="0" u="none" strike="noStrike" kern="1200" cap="none" spc="0" normalizeH="0" baseline="0" noProof="0" dirty="0">
                <a:ln>
                  <a:noFill/>
                </a:ln>
                <a:solidFill>
                  <a:srgbClr val="691B32"/>
                </a:solidFill>
                <a:effectLst/>
                <a:uLnTx/>
                <a:uFillTx/>
                <a:latin typeface="Patria" pitchFamily="50" charset="0"/>
                <a:ea typeface="+mn-ea"/>
                <a:cs typeface="+mn-cs"/>
              </a:rPr>
              <a:t> {{MES_CORTO_ANIO}}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DB3DF777-5D95-4E82-C36A-47578802F30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59993" r="25710" b="-3"/>
          <a:stretch/>
        </p:blipFill>
        <p:spPr>
          <a:xfrm>
            <a:off x="382883" y="740176"/>
            <a:ext cx="3844872" cy="53682"/>
          </a:xfrm>
          <a:prstGeom prst="rect">
            <a:avLst/>
          </a:prstGeom>
        </p:spPr>
      </p:pic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E34FF01B-17C6-E917-1769-02FB4936279D}"/>
              </a:ext>
            </a:extLst>
          </p:cNvPr>
          <p:cNvGraphicFramePr>
            <a:graphicFrameLocks noGrp="1"/>
          </p:cNvGraphicFramePr>
          <p:nvPr/>
        </p:nvGraphicFramePr>
        <p:xfrm>
          <a:off x="1417363" y="1074201"/>
          <a:ext cx="2076450" cy="838024"/>
        </p:xfrm>
        <a:graphic>
          <a:graphicData uri="http://schemas.openxmlformats.org/drawingml/2006/table">
            <a:tbl>
              <a:tblPr/>
              <a:tblGrid>
                <a:gridCol w="916502">
                  <a:extLst>
                    <a:ext uri="{9D8B030D-6E8A-4147-A177-3AD203B41FA5}">
                      <a16:colId xmlns:a16="http://schemas.microsoft.com/office/drawing/2014/main" val="1567463209"/>
                    </a:ext>
                  </a:extLst>
                </a:gridCol>
                <a:gridCol w="1159948">
                  <a:extLst>
                    <a:ext uri="{9D8B030D-6E8A-4147-A177-3AD203B41FA5}">
                      <a16:colId xmlns:a16="http://schemas.microsoft.com/office/drawing/2014/main" val="1470140252"/>
                    </a:ext>
                  </a:extLst>
                </a:gridCol>
              </a:tblGrid>
              <a:tr h="178594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Patria"/>
                        </a:rPr>
                        <a:t>OPERANDO ACTUALMENTE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299852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atria" panose="020F0502020204030204"/>
                        </a:rPr>
                        <a:t>{{N_REGULAR}}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Patria" panose="020F0502020204030204"/>
                        </a:rPr>
                        <a:t>CARGA REGULAR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70424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atria" panose="020F0502020204030204"/>
                        </a:rPr>
                        <a:t>{{N_FLETAMENTO}}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Patria" panose="020F0502020204030204"/>
                        </a:rPr>
                        <a:t>FLETAMENTO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193286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atria" panose="020F0502020204030204"/>
                        </a:rPr>
                        <a:t>{{N_MIXTA}}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Patria" panose="020F0502020204030204"/>
                        </a:rPr>
                        <a:t>CARGA MIXTA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6043424"/>
                  </a:ext>
                </a:extLst>
              </a:tr>
            </a:tbl>
          </a:graphicData>
        </a:graphic>
      </p:graphicFrame>
      <p:graphicFrame>
        <p:nvGraphicFramePr>
          <p:cNvPr id="20" name="Tabla 19">
            <a:extLst>
              <a:ext uri="{FF2B5EF4-FFF2-40B4-BE49-F238E27FC236}">
                <a16:creationId xmlns:a16="http://schemas.microsoft.com/office/drawing/2014/main" id="{B9BD3461-B316-8131-EC10-B0F2FD73623B}"/>
              </a:ext>
            </a:extLst>
          </p:cNvPr>
          <p:cNvGraphicFramePr>
            <a:graphicFrameLocks noGrp="1"/>
          </p:cNvGraphicFramePr>
          <p:nvPr/>
        </p:nvGraphicFramePr>
        <p:xfrm>
          <a:off x="760708" y="3864041"/>
          <a:ext cx="3562352" cy="1015782"/>
        </p:xfrm>
        <a:graphic>
          <a:graphicData uri="http://schemas.openxmlformats.org/drawingml/2006/table">
            <a:tbl>
              <a:tblPr/>
              <a:tblGrid>
                <a:gridCol w="1863384">
                  <a:extLst>
                    <a:ext uri="{9D8B030D-6E8A-4147-A177-3AD203B41FA5}">
                      <a16:colId xmlns:a16="http://schemas.microsoft.com/office/drawing/2014/main" val="1515046462"/>
                    </a:ext>
                  </a:extLst>
                </a:gridCol>
                <a:gridCol w="1698968">
                  <a:extLst>
                    <a:ext uri="{9D8B030D-6E8A-4147-A177-3AD203B41FA5}">
                      <a16:colId xmlns:a16="http://schemas.microsoft.com/office/drawing/2014/main" val="2237496580"/>
                    </a:ext>
                  </a:extLst>
                </a:gridCol>
              </a:tblGrid>
              <a:tr h="216000"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atria"/>
                        </a:rPr>
                        <a:t>AEROLÍNEAS QUE OPERAN AERONAVES BAJO LA FIGURA DE ARRENDAMIENTO HÚMEDO</a:t>
                      </a: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Patria"/>
                        </a:rPr>
                        <a:t> (WET LEASE)</a:t>
                      </a:r>
                    </a:p>
                  </a:txBody>
                  <a:tcPr marL="7144" marR="7144" marT="714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496177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Patria"/>
                        </a:rPr>
                        <a:t>AEROLÍNEA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Patria"/>
                        </a:rPr>
                        <a:t>ARRENDADOR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06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13550"/>
                  </a:ext>
                </a:extLst>
              </a:tr>
              <a:tr h="210878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atria"/>
                        </a:rPr>
                        <a:t>AEROUNION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atria"/>
                        </a:rPr>
                        <a:t>AVIANCA CARGO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473656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atria"/>
                        </a:rPr>
                        <a:t>MAS AIR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Patria"/>
                        </a:rPr>
                        <a:t>GALISTAIR</a:t>
                      </a:r>
                    </a:p>
                  </a:txBody>
                  <a:tcPr marL="7144" marR="7144" marT="714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0196766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D7161572-1D90-C78B-CA8B-EFCA6CD6AA5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3" t="15981" r="4305" b="37070"/>
          <a:stretch/>
        </p:blipFill>
        <p:spPr>
          <a:xfrm>
            <a:off x="-25335" y="5027920"/>
            <a:ext cx="4961846" cy="1683177"/>
          </a:xfrm>
          <a:prstGeom prst="rect">
            <a:avLst/>
          </a:prstGeom>
        </p:spPr>
      </p:pic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2797AE20-79FC-8965-3E70-4C5D9EC05F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3867832"/>
              </p:ext>
            </p:extLst>
          </p:nvPr>
        </p:nvGraphicFramePr>
        <p:xfrm>
          <a:off x="643891" y="2148840"/>
          <a:ext cx="3989070" cy="1280160"/>
        </p:xfrm>
        <a:graphic>
          <a:graphicData uri="http://schemas.openxmlformats.org/drawingml/2006/table">
            <a:tbl>
              <a:tblPr/>
              <a:tblGrid>
                <a:gridCol w="625736">
                  <a:extLst>
                    <a:ext uri="{9D8B030D-6E8A-4147-A177-3AD203B41FA5}">
                      <a16:colId xmlns:a16="http://schemas.microsoft.com/office/drawing/2014/main" val="3907435513"/>
                    </a:ext>
                  </a:extLst>
                </a:gridCol>
                <a:gridCol w="834315">
                  <a:extLst>
                    <a:ext uri="{9D8B030D-6E8A-4147-A177-3AD203B41FA5}">
                      <a16:colId xmlns:a16="http://schemas.microsoft.com/office/drawing/2014/main" val="1797950872"/>
                    </a:ext>
                  </a:extLst>
                </a:gridCol>
                <a:gridCol w="1573032">
                  <a:extLst>
                    <a:ext uri="{9D8B030D-6E8A-4147-A177-3AD203B41FA5}">
                      <a16:colId xmlns:a16="http://schemas.microsoft.com/office/drawing/2014/main" val="2914000346"/>
                    </a:ext>
                  </a:extLst>
                </a:gridCol>
                <a:gridCol w="955987">
                  <a:extLst>
                    <a:ext uri="{9D8B030D-6E8A-4147-A177-3AD203B41FA5}">
                      <a16:colId xmlns:a16="http://schemas.microsoft.com/office/drawing/2014/main" val="2528510953"/>
                    </a:ext>
                  </a:extLst>
                </a:gridCol>
              </a:tblGrid>
              <a:tr h="175429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es-MX" sz="12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es-MX" sz="1200" b="0" i="0" u="none" strike="noStrike">
                        <a:solidFill>
                          <a:srgbClr val="000000"/>
                        </a:solidFill>
                        <a:effectLst/>
                        <a:latin typeface="Noto Sans" panose="020B05020405040202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OPERACIONES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TONELADAS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7599511"/>
                  </a:ext>
                </a:extLst>
              </a:tr>
              <a:tr h="175429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1" i="0" u="none" strike="noStrike">
                          <a:solidFill>
                            <a:srgbClr val="FFFFFF"/>
                          </a:solidFill>
                          <a:effectLst/>
                          <a:latin typeface="Noto Sans" panose="020B0502040504020204" pitchFamily="34" charset="0"/>
                        </a:rPr>
                        <a:t>{{ANIO_1_ETQ}}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45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{{ANIO_1_OPS}}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{{ANIO_1_TON}}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6378336"/>
                  </a:ext>
                </a:extLst>
              </a:tr>
              <a:tr h="175429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1" i="0" u="none" strike="noStrike">
                          <a:solidFill>
                            <a:srgbClr val="FFFFFF"/>
                          </a:solidFill>
                          <a:effectLst/>
                          <a:latin typeface="Noto Sans" panose="020B0502040504020204" pitchFamily="34" charset="0"/>
                        </a:rPr>
                        <a:t>{{ANIO_2_ETQ}}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E152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{{ANIO_2_OPS}}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{{ANIO_2_TON}}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62706694"/>
                  </a:ext>
                </a:extLst>
              </a:tr>
              <a:tr h="175429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1" i="0" u="none" strike="noStrike">
                          <a:solidFill>
                            <a:srgbClr val="FFFFFF"/>
                          </a:solidFill>
                          <a:effectLst/>
                          <a:latin typeface="Noto Sans" panose="020B0502040504020204" pitchFamily="34" charset="0"/>
                        </a:rPr>
                        <a:t>{{ANIO_3_ETQ}}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5C4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{{ANIO_3_OPS}}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{{ANIO_3_TON}}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0684233"/>
                  </a:ext>
                </a:extLst>
              </a:tr>
              <a:tr h="175429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1" i="0" u="none" strike="noStrike">
                          <a:solidFill>
                            <a:srgbClr val="FFFFFF"/>
                          </a:solidFill>
                          <a:effectLst/>
                          <a:latin typeface="Noto Sans" panose="020B0502040504020204" pitchFamily="34" charset="0"/>
                        </a:rPr>
                        <a:t>{{ANIO_4_ETQ}}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C945A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{{ANIO_4_OPS}}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{{ANIO_4_TON}}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8616829"/>
                  </a:ext>
                </a:extLst>
              </a:tr>
              <a:tr h="175429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1" i="0" u="none" strike="noStrike">
                          <a:solidFill>
                            <a:srgbClr val="FFFFFF"/>
                          </a:solidFill>
                          <a:effectLst/>
                          <a:latin typeface="Noto Sans" panose="020B0502040504020204" pitchFamily="34" charset="0"/>
                        </a:rPr>
                        <a:t>Carga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1" i="0" u="none" strike="noStrike">
                          <a:solidFill>
                            <a:srgbClr val="FFFFFF"/>
                          </a:solidFill>
                          <a:effectLst/>
                          <a:latin typeface="Noto Sans" panose="020B0502040504020204" pitchFamily="34" charset="0"/>
                        </a:rPr>
                        <a:t>{{DIA_FECHA}}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549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{{DIA_OPS}}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{{DIA_TON}}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7843099"/>
                  </a:ext>
                </a:extLst>
              </a:tr>
              <a:tr h="175429"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ACUMULADO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{{ACUM_OPS}}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{{ACUM_TON}}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42172523"/>
                  </a:ext>
                </a:extLst>
              </a:tr>
            </a:tbl>
          </a:graphicData>
        </a:graphic>
      </p:graphicFrame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19847D15-067F-A59B-4BA4-71F8A9CF00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0073179"/>
              </p:ext>
            </p:extLst>
          </p:nvPr>
        </p:nvGraphicFramePr>
        <p:xfrm>
          <a:off x="4936511" y="266149"/>
          <a:ext cx="3955902" cy="6400800"/>
        </p:xfrm>
        <a:graphic>
          <a:graphicData uri="http://schemas.openxmlformats.org/drawingml/2006/table">
            <a:tbl>
              <a:tblPr/>
              <a:tblGrid>
                <a:gridCol w="1575421">
                  <a:extLst>
                    <a:ext uri="{9D8B030D-6E8A-4147-A177-3AD203B41FA5}">
                      <a16:colId xmlns:a16="http://schemas.microsoft.com/office/drawing/2014/main" val="3274196511"/>
                    </a:ext>
                  </a:extLst>
                </a:gridCol>
                <a:gridCol w="978565">
                  <a:extLst>
                    <a:ext uri="{9D8B030D-6E8A-4147-A177-3AD203B41FA5}">
                      <a16:colId xmlns:a16="http://schemas.microsoft.com/office/drawing/2014/main" val="3301596722"/>
                    </a:ext>
                  </a:extLst>
                </a:gridCol>
                <a:gridCol w="1401916">
                  <a:extLst>
                    <a:ext uri="{9D8B030D-6E8A-4147-A177-3AD203B41FA5}">
                      <a16:colId xmlns:a16="http://schemas.microsoft.com/office/drawing/2014/main" val="2849292020"/>
                    </a:ext>
                  </a:extLst>
                </a:gridCol>
              </a:tblGrid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AEROLÍNEA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OPERACIONES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CARGA EN TONELADAS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30832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AERONAVES TSM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{{H1_OPS_1}}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{{H1_TON_1}}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561154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AEROUNIÓN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{{H1_OPS_2}}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{{H1_TON_2}}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0551645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AIR CANADA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{{H1_OPS_3}}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{{H1_TON_3}}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2228817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AIR FRANCE CARGO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{{H1_OPS_4}}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{{H1_TON_4}}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4903313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AMERIJET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{{H1_OPS_5}}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{{H1_TON_5}}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088552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CARGOJET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{{H1_OPS_6}}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{{H1_TON_6}}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419470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CARGOLUX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{{H1_OPS_7}}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{{H1_TON_7}}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1852386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CATHAY PACIFIC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{{H1_OPS_8}}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{{H1_TON_8}}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7520790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COPA CARGO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{{H1_OPS_9}}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{{H1_TON_9}}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1354761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DHL GUATEMALA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{{H1_OPS_10}}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{{H1_TON_10}}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262557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EMIRATES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{{H1_OPS_11}}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{{H1_TON_11}}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94145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ESTAFETA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{{H1_OPS_12}}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{{H1_TON_12}}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71221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LUFTHANSA CARGO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{{H1_OPS_13}}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{{H1_TON_13}}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1812120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MAS DE CARGA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{{H1_OPS_14}}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{{H1_TON_14}}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5819406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QATAR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{{H1_OPS_15}}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{{H1_TON_15}}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5702391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TM AEROLINEAS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{{H1_OPS_16}}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{{H1_TON_16}}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5137604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TURKISH CARGO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{{H1_OPS_17}}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{{H1_TON_17}}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1676921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UPS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4C6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{{H1_OPS_18}}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{{H1_TON_18}}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28013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AEROMÉXICO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{{H1_OPS_19}}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{{H1_TON_19}}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10972839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CONVIASA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{{H1_OPS_20}}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{{H1_TON_20}}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43295276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MEXICANA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{{H1_OPS_21}}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{{H1_TON_21}}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38654208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VIVA AEROBUS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{{H1_OPS_22}}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{{H1_TON_22}}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4743032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VOLARIS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E0B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{{H1_OPS_23}}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{{H1_TON_23}}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6920326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ABSA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{{H1_OPS_24}}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{{H1_TON_24}}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3690722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ABX AIR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{{H1_OPS_25}}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{{H1_TON_25}}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0290476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AERO SUCRE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{{H1_OPS_26}}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{{H1_TON_26}}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5506521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AEROLINEAS ARGENTINAS CARGO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{{H1_OPS_27}}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{{H1_TON_27}}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7195067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AIR CHINA CARGO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{{H1_OPS_28}}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{{H1_TON_28}}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47445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AIR EXPRESS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{{H1_OPS_29}}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{{H1_TON_29}}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3609011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ATLAS AIR INC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{{H1_OPS_30}}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{{H1_TON_30}}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98905357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BERRY AVIATION INC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{{H1_OPS_31}}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{{H1_TON_31}}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820912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CHINA SOUTHERN CARGO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{{H1_OPS_32}}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{{H1_TON_32}}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26671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ETHIOPIAN CARGO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{{H1_OPS_33}}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{{H1_TON_33}}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6400924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EVERST AIR CARGO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{{H1_OPS_34}}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{{H1_TON_34}}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7624634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FEDEX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{{H1_OPS_35}}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{{H1_TON_35}}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203531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GALISTAIR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{{H1_OPS_36}}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{{H1_TON_36}}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9423815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GLOBAL CROSSING AIRLINES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{{H1_OPS_37}}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{{H1_TON_37}}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9862816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IFL GROUP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{{H1_OPS_38}}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{{H1_TON_38}}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443235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KALITTA AIR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{{H1_OPS_39}}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{{H1_TON_39}}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62955629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KALITTA CHARTERS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{{H1_OPS_40}}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{{H1_TON_40}}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72973376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LAN CARGO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{{H1_OPS_41}}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{{H1_TON_41}}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6764224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LATAM CARGO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{{H1_OPS_42}}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{{H1_TON_42}}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9596585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LYNDEN AIR CARGO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{{H1_OPS_43}}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{{H1_TON_43}}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6934856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MCNEELY CHARTER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{{H1_OPS_44}}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{{H1_TON_44}}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5964013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NATIONAL AIR CARGO GROUP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{{H1_OPS_45}}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{{H1_TON_45}}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7958416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SAUDI CARGO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{{H1_OPS_46}}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{{H1_TON_46}}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266458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SILKWAY WEST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{{H1_OPS_47}}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{{H1_TON_47}}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0311931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SKY LEASE CARGO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{{H1_OPS_48}}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{{H1_TON_48}}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2134608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SUPARNA AIRLINES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{{H1_OPS_49}}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{{H1_TON_49}}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8579375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UKRAINE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{{H1_OPS_50}}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{{H1_TON_50}}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932800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UNIWORLD AIR CARGO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{{H1_OPS_51}}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{{H1_TON_51}}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0250679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WESTERN GLOBAL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{{H1_OPS_52}}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{{H1_TON_52}}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1356503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USAJET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{{H1_OPS_53}}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{{H1_TON_53}}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4897172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LEGENDS AIRWAYS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{{H1_OPS_54}}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{{H1_TON_54}}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1776839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CAVOK AIR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{{H1_OPS_55}}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{{H1_TON_55}}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4816108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CHINA CARGO AIRLINES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{{H1_OPS_56}}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{{H1_TON_56}}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53337925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AIR ATLANTA EUROPE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{{H1_OPS_57}}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{{H1_TON_57}}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61373822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AMERISTAR AIR CARGO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69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{{H1_OPS_58}}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0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{{H1_TON_58}}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6061451"/>
                  </a:ext>
                </a:extLst>
              </a:tr>
              <a:tr h="103231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1" i="0" u="none" strike="noStrike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{{H1_OPS_TOTAL}}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s-MX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" panose="020B0502040504020204" pitchFamily="34" charset="0"/>
                        </a:rPr>
                        <a:t>{{H1_TON_TOTAL}}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167081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413211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795C6-4F25-B83F-6714-C99D724C1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áfico 2">
            <a:extLst>
              <a:ext uri="{FF2B5EF4-FFF2-40B4-BE49-F238E27FC236}">
                <a16:creationId xmlns:a16="http://schemas.microsoft.com/office/drawing/2014/main" id="{444647EF-5804-D2C8-0F17-A0C53EC9A1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19050" y="0"/>
            <a:ext cx="9180000" cy="1605052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AFD6C23A-8439-4738-E3AE-F0A0E4A214B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9307" y="301125"/>
            <a:ext cx="2095500" cy="520451"/>
          </a:xfrm>
          <a:prstGeom prst="rect">
            <a:avLst/>
          </a:prstGeom>
        </p:spPr>
      </p:pic>
      <p:pic>
        <p:nvPicPr>
          <p:cNvPr id="4" name="Picture 6" descr="Avión de pasajeros y carga PNG en un fondo transparente">
            <a:extLst>
              <a:ext uri="{FF2B5EF4-FFF2-40B4-BE49-F238E27FC236}">
                <a16:creationId xmlns:a16="http://schemas.microsoft.com/office/drawing/2014/main" id="{B40F5162-BA8F-9B75-FFC2-538524FD3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335" y="844798"/>
            <a:ext cx="4660665" cy="122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4B388AB3-5B1D-7E99-3502-6A630087BC01}"/>
              </a:ext>
            </a:extLst>
          </p:cNvPr>
          <p:cNvSpPr txBox="1"/>
          <p:nvPr/>
        </p:nvSpPr>
        <p:spPr>
          <a:xfrm>
            <a:off x="409328" y="320308"/>
            <a:ext cx="550365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>
                <a:solidFill>
                  <a:srgbClr val="691B32"/>
                </a:solidFill>
                <a:latin typeface="Patria" pitchFamily="50" charset="0"/>
              </a:rPr>
              <a:t>Aerolíneas que operan con un contrato de Servicios Aeroportuarios: </a:t>
            </a:r>
            <a:endParaRPr lang="es-MX" sz="2400" b="1" dirty="0">
              <a:solidFill>
                <a:srgbClr val="691B32"/>
              </a:solidFill>
              <a:latin typeface="Patria" pitchFamily="50" charset="0"/>
            </a:endParaRPr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60912187-9EB6-CF89-B3D8-C03C1CB63B6F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12555" r="12573"/>
          <a:stretch/>
        </p:blipFill>
        <p:spPr>
          <a:xfrm>
            <a:off x="0" y="0"/>
            <a:ext cx="9180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6822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3CF939-106D-1A94-BF97-6B71AC59B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27D482A0-5318-7DAF-77EE-CF4872F9E4CD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2555" r="12573"/>
          <a:stretch/>
        </p:blipFill>
        <p:spPr>
          <a:xfrm>
            <a:off x="0" y="0"/>
            <a:ext cx="9180001" cy="6858000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B513078A-FEA2-EF42-A779-5048134FAC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9050" y="0"/>
            <a:ext cx="9180000" cy="1431985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E267A26-BD10-3C58-6AF2-6E16F04375D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9307" y="301125"/>
            <a:ext cx="2095500" cy="520451"/>
          </a:xfrm>
          <a:prstGeom prst="rect">
            <a:avLst/>
          </a:prstGeom>
        </p:spPr>
      </p:pic>
      <p:pic>
        <p:nvPicPr>
          <p:cNvPr id="4" name="Picture 6" descr="Avión de pasajeros y carga PNG en un fondo transparente">
            <a:extLst>
              <a:ext uri="{FF2B5EF4-FFF2-40B4-BE49-F238E27FC236}">
                <a16:creationId xmlns:a16="http://schemas.microsoft.com/office/drawing/2014/main" id="{3E59A3DA-3884-BCAE-B755-AC7A9C85B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335" y="836765"/>
            <a:ext cx="4660665" cy="122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69D28167-35CD-359B-DA1B-44ACA3EEE3F8}"/>
              </a:ext>
            </a:extLst>
          </p:cNvPr>
          <p:cNvSpPr txBox="1"/>
          <p:nvPr/>
        </p:nvSpPr>
        <p:spPr>
          <a:xfrm>
            <a:off x="256478" y="301125"/>
            <a:ext cx="53748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>
                <a:solidFill>
                  <a:srgbClr val="691B32"/>
                </a:solidFill>
                <a:latin typeface="Patria" pitchFamily="50" charset="0"/>
              </a:rPr>
              <a:t>Aerolíneas que operan en la modalidad de fletamento de carga: </a:t>
            </a:r>
            <a:endParaRPr lang="es-MX" sz="2400" b="1" dirty="0">
              <a:solidFill>
                <a:srgbClr val="691B32"/>
              </a:solidFill>
              <a:latin typeface="Patria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6953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DACD9-9D81-2D09-53AF-827A9D891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0D9299E2-6B90-79C5-721B-05384C7F7824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2555" r="12573"/>
          <a:stretch/>
        </p:blipFill>
        <p:spPr>
          <a:xfrm>
            <a:off x="-29030" y="0"/>
            <a:ext cx="9180001" cy="6858000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38E4162C-BD6F-348F-AE72-4D3BA51B00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9050" y="0"/>
            <a:ext cx="9180000" cy="1605052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0F49F30E-9B02-5421-ED15-B93D2D6B0D3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9307" y="301125"/>
            <a:ext cx="2095500" cy="520451"/>
          </a:xfrm>
          <a:prstGeom prst="rect">
            <a:avLst/>
          </a:prstGeom>
        </p:spPr>
      </p:pic>
      <p:pic>
        <p:nvPicPr>
          <p:cNvPr id="4" name="Picture 6" descr="Avión de pasajeros y carga PNG en un fondo transparente">
            <a:extLst>
              <a:ext uri="{FF2B5EF4-FFF2-40B4-BE49-F238E27FC236}">
                <a16:creationId xmlns:a16="http://schemas.microsoft.com/office/drawing/2014/main" id="{FC04697C-35AA-F8A6-1A1C-0A4F54944D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335" y="834064"/>
            <a:ext cx="4660665" cy="122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53C1B3F8-9C2A-FC46-B4B3-9E6D2CBCAD23}"/>
              </a:ext>
            </a:extLst>
          </p:cNvPr>
          <p:cNvSpPr txBox="1"/>
          <p:nvPr/>
        </p:nvSpPr>
        <p:spPr>
          <a:xfrm>
            <a:off x="189570" y="251518"/>
            <a:ext cx="53748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>
                <a:solidFill>
                  <a:srgbClr val="691B32"/>
                </a:solidFill>
                <a:latin typeface="Patria" pitchFamily="50" charset="0"/>
              </a:rPr>
              <a:t>Aerolíneas que operan en la modalidad de carga: </a:t>
            </a:r>
            <a:endParaRPr lang="es-MX" sz="2400" b="1" dirty="0">
              <a:solidFill>
                <a:srgbClr val="691B32"/>
              </a:solidFill>
              <a:latin typeface="Patria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419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D82C1-D495-D1EC-E12E-23026378A8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D6E17397-53FE-2EFC-CE1C-F616EA6BDDF9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2555" r="12573"/>
          <a:stretch/>
        </p:blipFill>
        <p:spPr>
          <a:xfrm>
            <a:off x="0" y="84221"/>
            <a:ext cx="9180001" cy="6858000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DC5F7A6F-8543-8671-69BF-34CE05DA70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9050" y="0"/>
            <a:ext cx="9180000" cy="1605052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DABC3774-29E1-5AD1-E947-942D5153A7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69307" y="301125"/>
            <a:ext cx="2095500" cy="520451"/>
          </a:xfrm>
          <a:prstGeom prst="rect">
            <a:avLst/>
          </a:prstGeom>
        </p:spPr>
      </p:pic>
      <p:pic>
        <p:nvPicPr>
          <p:cNvPr id="4" name="Picture 6" descr="Avión de pasajeros y carga PNG en un fondo transparente">
            <a:extLst>
              <a:ext uri="{FF2B5EF4-FFF2-40B4-BE49-F238E27FC236}">
                <a16:creationId xmlns:a16="http://schemas.microsoft.com/office/drawing/2014/main" id="{DD933F4F-32E1-6289-FF07-6506B1D50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83335" y="834064"/>
            <a:ext cx="4660665" cy="12260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70F1583D-AB32-50B6-0ECA-60CDC3225C33}"/>
              </a:ext>
            </a:extLst>
          </p:cNvPr>
          <p:cNvSpPr txBox="1"/>
          <p:nvPr/>
        </p:nvSpPr>
        <p:spPr>
          <a:xfrm>
            <a:off x="189570" y="251518"/>
            <a:ext cx="53748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400" b="1">
                <a:solidFill>
                  <a:srgbClr val="691B32"/>
                </a:solidFill>
                <a:latin typeface="Patria" pitchFamily="50" charset="0"/>
              </a:rPr>
              <a:t>Aerolíneas que realizan operaciones mixtas (carga y pasajeros): </a:t>
            </a:r>
            <a:endParaRPr lang="es-MX" sz="2400" b="1" dirty="0">
              <a:solidFill>
                <a:srgbClr val="691B32"/>
              </a:solidFill>
              <a:latin typeface="Patria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905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2F344-5AE7-4498-5B02-9A3E4DF58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áfico 1">
            <a:extLst>
              <a:ext uri="{FF2B5EF4-FFF2-40B4-BE49-F238E27FC236}">
                <a16:creationId xmlns:a16="http://schemas.microsoft.com/office/drawing/2014/main" id="{68EB324C-635B-1E20-9786-2AF18CF10335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2711" r="12711"/>
          <a:stretch/>
        </p:blipFill>
        <p:spPr>
          <a:xfrm>
            <a:off x="14543" y="163446"/>
            <a:ext cx="9146407" cy="6858000"/>
          </a:xfrm>
          <a:prstGeom prst="rect">
            <a:avLst/>
          </a:prstGeom>
        </p:spPr>
      </p:pic>
      <p:pic>
        <p:nvPicPr>
          <p:cNvPr id="23" name="Imagen 22" descr="Dibujo en blanco y negro&#10;&#10;Descripción generada automáticamente con confianza baja">
            <a:extLst>
              <a:ext uri="{FF2B5EF4-FFF2-40B4-BE49-F238E27FC236}">
                <a16:creationId xmlns:a16="http://schemas.microsoft.com/office/drawing/2014/main" id="{D06F2F95-E57F-7E32-8136-8C4448AF1784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4317" y="1673261"/>
            <a:ext cx="931916" cy="931916"/>
          </a:xfrm>
          <a:prstGeom prst="rect">
            <a:avLst/>
          </a:prstGeom>
        </p:spPr>
      </p:pic>
      <p:pic>
        <p:nvPicPr>
          <p:cNvPr id="3" name="Gráfico 2">
            <a:extLst>
              <a:ext uri="{FF2B5EF4-FFF2-40B4-BE49-F238E27FC236}">
                <a16:creationId xmlns:a16="http://schemas.microsoft.com/office/drawing/2014/main" id="{02E2691E-8713-433A-522D-920A0E7211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19050" y="0"/>
            <a:ext cx="9180000" cy="1605052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40F9BD69-D66F-D31E-1B99-4BDDA9EF8F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69307" y="301125"/>
            <a:ext cx="2095500" cy="520451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0AD0CE17-4711-73F5-F282-15D3F886F0C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33" t="15981" r="4305" b="37070"/>
          <a:stretch/>
        </p:blipFill>
        <p:spPr>
          <a:xfrm>
            <a:off x="954497" y="4422132"/>
            <a:ext cx="7232903" cy="2453573"/>
          </a:xfrm>
          <a:prstGeom prst="rect">
            <a:avLst/>
          </a:prstGeom>
        </p:spPr>
      </p:pic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A447D78B-B959-140A-F5D7-72EC4FBC3C83}"/>
              </a:ext>
            </a:extLst>
          </p:cNvPr>
          <p:cNvSpPr/>
          <p:nvPr/>
        </p:nvSpPr>
        <p:spPr>
          <a:xfrm>
            <a:off x="793630" y="1402798"/>
            <a:ext cx="2833404" cy="3803401"/>
          </a:xfrm>
          <a:prstGeom prst="roundRect">
            <a:avLst>
              <a:gd name="adj" fmla="val 5085"/>
            </a:avLst>
          </a:prstGeom>
          <a:noFill/>
          <a:ln w="19050">
            <a:solidFill>
              <a:schemeClr val="accent6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s-MX" sz="2800" b="1" dirty="0">
                <a:solidFill>
                  <a:srgbClr val="245C4F"/>
                </a:solidFill>
                <a:effectLst/>
                <a:latin typeface="Montserrat" panose="00000500000000000000" pitchFamily="2" charset="0"/>
              </a:rPr>
              <a:t>  </a:t>
            </a:r>
          </a:p>
          <a:p>
            <a:pPr algn="ctr"/>
            <a:r>
              <a:rPr lang="es-MX" sz="2800" b="1" dirty="0">
                <a:solidFill>
                  <a:srgbClr val="245C4F"/>
                </a:solidFill>
                <a:effectLst/>
                <a:latin typeface="Montserrat" panose="00000500000000000000" pitchFamily="2" charset="0"/>
              </a:rPr>
              <a:t>        </a:t>
            </a:r>
          </a:p>
          <a:p>
            <a:pPr algn="ctr"/>
            <a:endParaRPr lang="es-MX" sz="2800" b="1" dirty="0">
              <a:solidFill>
                <a:srgbClr val="245C4F"/>
              </a:solidFill>
              <a:latin typeface="Montserrat" panose="00000500000000000000" pitchFamily="2" charset="0"/>
            </a:endParaRPr>
          </a:p>
          <a:p>
            <a:pPr algn="ctr"/>
            <a:endParaRPr lang="es-MX" sz="2000" b="1" dirty="0">
              <a:solidFill>
                <a:srgbClr val="6F7271"/>
              </a:solidFill>
              <a:latin typeface="Patria"/>
            </a:endParaRPr>
          </a:p>
          <a:p>
            <a:pPr algn="ctr"/>
            <a:r>
              <a:rPr lang="es-MX" sz="2400" b="1" dirty="0">
                <a:solidFill>
                  <a:srgbClr val="6F7271"/>
                </a:solidFill>
                <a:latin typeface="Patria"/>
              </a:rPr>
              <a:t>Total de operaciones</a:t>
            </a:r>
            <a:endParaRPr lang="es-MX" sz="2400" b="1" dirty="0">
              <a:solidFill>
                <a:srgbClr val="6F7271"/>
              </a:solidFill>
              <a:effectLst/>
              <a:latin typeface="Patria"/>
            </a:endParaRPr>
          </a:p>
          <a:p>
            <a:r>
              <a:rPr lang="es-MX" sz="2800" b="1" dirty="0">
                <a:solidFill>
                  <a:srgbClr val="245C4F"/>
                </a:solidFill>
                <a:latin typeface="Montserrat" panose="00000500000000000000" pitchFamily="2" charset="0"/>
              </a:rPr>
              <a:t>        </a:t>
            </a:r>
            <a:endParaRPr lang="es-MX" sz="4800" b="1" dirty="0">
              <a:solidFill>
                <a:srgbClr val="691B31"/>
              </a:solidFill>
              <a:latin typeface="Montserrat" panose="00000500000000000000" pitchFamily="2" charset="0"/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E89C564E-4792-4D0A-66A4-8E278A1F1E35}"/>
              </a:ext>
            </a:extLst>
          </p:cNvPr>
          <p:cNvSpPr/>
          <p:nvPr/>
        </p:nvSpPr>
        <p:spPr>
          <a:xfrm>
            <a:off x="954497" y="3596274"/>
            <a:ext cx="2442329" cy="720057"/>
          </a:xfrm>
          <a:prstGeom prst="roundRect">
            <a:avLst/>
          </a:prstGeom>
          <a:solidFill>
            <a:srgbClr val="F5EDE0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/>
            <a:r>
              <a:rPr lang="es-MX" sz="3200" b="1" dirty="0">
                <a:solidFill>
                  <a:srgbClr val="235B4E"/>
                </a:solidFill>
                <a:latin typeface="Patria"/>
              </a:rPr>
              <a:t>{{ACUM_OPS}}</a:t>
            </a:r>
          </a:p>
        </p:txBody>
      </p:sp>
      <p:sp>
        <p:nvSpPr>
          <p:cNvPr id="20" name="Rectángulo: esquinas redondeadas 19">
            <a:extLst>
              <a:ext uri="{FF2B5EF4-FFF2-40B4-BE49-F238E27FC236}">
                <a16:creationId xmlns:a16="http://schemas.microsoft.com/office/drawing/2014/main" id="{22323C6E-A156-D934-708B-B184F68B7B80}"/>
              </a:ext>
            </a:extLst>
          </p:cNvPr>
          <p:cNvSpPr/>
          <p:nvPr/>
        </p:nvSpPr>
        <p:spPr>
          <a:xfrm>
            <a:off x="5514863" y="1399893"/>
            <a:ext cx="2833404" cy="3803401"/>
          </a:xfrm>
          <a:prstGeom prst="roundRect">
            <a:avLst>
              <a:gd name="adj" fmla="val 5085"/>
            </a:avLst>
          </a:prstGeom>
          <a:noFill/>
          <a:ln w="19050">
            <a:solidFill>
              <a:schemeClr val="accent6">
                <a:lumMod val="50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r>
              <a:rPr lang="es-MX" sz="2800" b="1" dirty="0">
                <a:solidFill>
                  <a:srgbClr val="245C4F"/>
                </a:solidFill>
                <a:effectLst/>
                <a:latin typeface="Montserrat" panose="00000500000000000000" pitchFamily="2" charset="0"/>
              </a:rPr>
              <a:t>  </a:t>
            </a:r>
          </a:p>
          <a:p>
            <a:pPr algn="ctr"/>
            <a:r>
              <a:rPr lang="es-MX" sz="2800" b="1" dirty="0">
                <a:solidFill>
                  <a:srgbClr val="245C4F"/>
                </a:solidFill>
                <a:effectLst/>
                <a:latin typeface="Montserrat" panose="00000500000000000000" pitchFamily="2" charset="0"/>
              </a:rPr>
              <a:t>        </a:t>
            </a:r>
          </a:p>
          <a:p>
            <a:pPr algn="ctr"/>
            <a:endParaRPr lang="es-MX" sz="2800" b="1" dirty="0">
              <a:solidFill>
                <a:srgbClr val="245C4F"/>
              </a:solidFill>
              <a:latin typeface="Montserrat" panose="00000500000000000000" pitchFamily="2" charset="0"/>
            </a:endParaRPr>
          </a:p>
          <a:p>
            <a:pPr algn="ctr"/>
            <a:r>
              <a:rPr lang="es-MX" sz="2400" b="1" dirty="0">
                <a:solidFill>
                  <a:srgbClr val="6F7271"/>
                </a:solidFill>
                <a:latin typeface="Patria"/>
              </a:rPr>
              <a:t>Total de carga transportada (</a:t>
            </a:r>
            <a:r>
              <a:rPr lang="es-MX" sz="2400" b="1" dirty="0" err="1">
                <a:solidFill>
                  <a:srgbClr val="6F7271"/>
                </a:solidFill>
                <a:latin typeface="Patria"/>
              </a:rPr>
              <a:t>tons</a:t>
            </a:r>
            <a:r>
              <a:rPr lang="es-MX" sz="2400" b="1" dirty="0">
                <a:solidFill>
                  <a:srgbClr val="6F7271"/>
                </a:solidFill>
                <a:latin typeface="Patria"/>
              </a:rPr>
              <a:t>.)</a:t>
            </a:r>
            <a:endParaRPr lang="es-MX" sz="2400" b="1" dirty="0">
              <a:solidFill>
                <a:srgbClr val="6F7271"/>
              </a:solidFill>
              <a:effectLst/>
              <a:latin typeface="Patria"/>
            </a:endParaRPr>
          </a:p>
          <a:p>
            <a:r>
              <a:rPr lang="es-MX" sz="2800" b="1" dirty="0">
                <a:solidFill>
                  <a:srgbClr val="245C4F"/>
                </a:solidFill>
                <a:latin typeface="Montserrat" panose="00000500000000000000" pitchFamily="2" charset="0"/>
              </a:rPr>
              <a:t>        </a:t>
            </a:r>
            <a:endParaRPr lang="es-MX" sz="4800" b="1" dirty="0">
              <a:solidFill>
                <a:srgbClr val="691B31"/>
              </a:solidFill>
              <a:latin typeface="Montserrat" panose="00000500000000000000" pitchFamily="2" charset="0"/>
            </a:endParaRPr>
          </a:p>
        </p:txBody>
      </p:sp>
      <p:sp>
        <p:nvSpPr>
          <p:cNvPr id="21" name="Rectángulo: esquinas redondeadas 20">
            <a:extLst>
              <a:ext uri="{FF2B5EF4-FFF2-40B4-BE49-F238E27FC236}">
                <a16:creationId xmlns:a16="http://schemas.microsoft.com/office/drawing/2014/main" id="{9C1D09DE-F798-7FD8-D239-5547CBB6AE6C}"/>
              </a:ext>
            </a:extLst>
          </p:cNvPr>
          <p:cNvSpPr/>
          <p:nvPr/>
        </p:nvSpPr>
        <p:spPr>
          <a:xfrm>
            <a:off x="5745071" y="3596274"/>
            <a:ext cx="2442329" cy="720057"/>
          </a:xfrm>
          <a:prstGeom prst="roundRect">
            <a:avLst/>
          </a:prstGeom>
          <a:solidFill>
            <a:srgbClr val="F5EDE0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 fontAlgn="ctr">
              <a:buNone/>
            </a:pPr>
            <a:r>
              <a:rPr lang="es-MX" sz="3200" b="1" dirty="0">
                <a:solidFill>
                  <a:srgbClr val="235B4E"/>
                </a:solidFill>
                <a:latin typeface="Patria"/>
              </a:rPr>
              <a:t>{{ACUM_TON}}</a:t>
            </a:r>
          </a:p>
        </p:txBody>
      </p:sp>
      <p:pic>
        <p:nvPicPr>
          <p:cNvPr id="25" name="Imagen 24" descr="Forma, Icono&#10;&#10;Descripción generada automáticamente">
            <a:extLst>
              <a:ext uri="{FF2B5EF4-FFF2-40B4-BE49-F238E27FC236}">
                <a16:creationId xmlns:a16="http://schemas.microsoft.com/office/drawing/2014/main" id="{02B70A2F-7D31-2836-AAEB-5E0243031123}"/>
              </a:ext>
            </a:extLst>
          </p:cNvPr>
          <p:cNvPicPr>
            <a:picLocks noChangeAspect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45648" y="1770802"/>
            <a:ext cx="929366" cy="929366"/>
          </a:xfrm>
          <a:prstGeom prst="rect">
            <a:avLst/>
          </a:prstGeom>
        </p:spPr>
      </p:pic>
      <p:sp>
        <p:nvSpPr>
          <p:cNvPr id="26" name="CuadroTexto 25">
            <a:extLst>
              <a:ext uri="{FF2B5EF4-FFF2-40B4-BE49-F238E27FC236}">
                <a16:creationId xmlns:a16="http://schemas.microsoft.com/office/drawing/2014/main" id="{36D5EB4C-A766-CABB-E0BA-4D9E6AD4C55A}"/>
              </a:ext>
            </a:extLst>
          </p:cNvPr>
          <p:cNvSpPr txBox="1"/>
          <p:nvPr/>
        </p:nvSpPr>
        <p:spPr>
          <a:xfrm>
            <a:off x="726955" y="201953"/>
            <a:ext cx="56071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rgbClr val="691B32"/>
                </a:solidFill>
                <a:latin typeface="Patria" pitchFamily="50" charset="0"/>
              </a:rPr>
              <a:t>Cifras acumuladas desde el inicio de operaciones de la Terminal de Carga: </a:t>
            </a:r>
          </a:p>
        </p:txBody>
      </p:sp>
    </p:spTree>
    <p:extLst>
      <p:ext uri="{BB962C8B-B14F-4D97-AF65-F5344CB8AC3E}">
        <p14:creationId xmlns:p14="http://schemas.microsoft.com/office/powerpoint/2010/main" val="588377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548EF1E7-857B-47D9-1822-84E79370328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2711" r="12711"/>
          <a:stretch/>
        </p:blipFill>
        <p:spPr>
          <a:xfrm>
            <a:off x="0" y="19050"/>
            <a:ext cx="9144000" cy="6858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BD5391C1-6505-41AE-4E4B-CF35EE90E5D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9307" y="301125"/>
            <a:ext cx="2095500" cy="5204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5E57DE67-F8DA-C0C0-8434-996B832B5A78}"/>
              </a:ext>
            </a:extLst>
          </p:cNvPr>
          <p:cNvSpPr txBox="1"/>
          <p:nvPr/>
        </p:nvSpPr>
        <p:spPr>
          <a:xfrm>
            <a:off x="479194" y="259300"/>
            <a:ext cx="479533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800" b="1" dirty="0">
                <a:solidFill>
                  <a:srgbClr val="691B32"/>
                </a:solidFill>
                <a:latin typeface="Patria" pitchFamily="50" charset="0"/>
              </a:rPr>
              <a:t>Aerolíneas de carga que operan en el AIFA</a:t>
            </a:r>
          </a:p>
        </p:txBody>
      </p: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42BEC48C-9DF7-8164-9296-CDAAA10643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1028863"/>
              </p:ext>
            </p:extLst>
          </p:nvPr>
        </p:nvGraphicFramePr>
        <p:xfrm>
          <a:off x="517015" y="1453657"/>
          <a:ext cx="8109968" cy="4075071"/>
        </p:xfrm>
        <a:graphic>
          <a:graphicData uri="http://schemas.openxmlformats.org/drawingml/2006/table">
            <a:tbl>
              <a:tblPr firstRow="1" firstCol="1" bandRow="1"/>
              <a:tblGrid>
                <a:gridCol w="391968">
                  <a:extLst>
                    <a:ext uri="{9D8B030D-6E8A-4147-A177-3AD203B41FA5}">
                      <a16:colId xmlns:a16="http://schemas.microsoft.com/office/drawing/2014/main" val="2538481668"/>
                    </a:ext>
                  </a:extLst>
                </a:gridCol>
                <a:gridCol w="3398000">
                  <a:extLst>
                    <a:ext uri="{9D8B030D-6E8A-4147-A177-3AD203B41FA5}">
                      <a16:colId xmlns:a16="http://schemas.microsoft.com/office/drawing/2014/main" val="2755241097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720349984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1993150026"/>
                    </a:ext>
                  </a:extLst>
                </a:gridCol>
              </a:tblGrid>
              <a:tr h="1666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No.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Aerolínea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Tipo de operación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ES" sz="1200" b="1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Situación actual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2330875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Cathay </a:t>
                      </a:r>
                      <a:r>
                        <a:rPr lang="es-MX" sz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Pacific</a:t>
                      </a: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Airways </a:t>
                      </a:r>
                      <a:r>
                        <a:rPr lang="es-MX" sz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Limited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8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b="1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Regular </a:t>
                      </a: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 contrato de </a:t>
                      </a:r>
                    </a:p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Servicios Aeroportuarios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rowSpan="18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Operando</a:t>
                      </a: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205858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2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US" sz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Turk</a:t>
                      </a:r>
                      <a:r>
                        <a:rPr lang="es-US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US" sz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Hava</a:t>
                      </a:r>
                      <a:r>
                        <a:rPr lang="es-US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US" sz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YOralli</a:t>
                      </a:r>
                      <a:r>
                        <a:rPr lang="es-US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., A.O. (</a:t>
                      </a:r>
                      <a:r>
                        <a:rPr lang="es-US" sz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Turkish</a:t>
                      </a:r>
                      <a:r>
                        <a:rPr lang="es-US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)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860196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3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DHL Guatemala, S.A.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883237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4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Estafeta Carga Aérea, S.A. de C.V.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564868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5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US" sz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Societe</a:t>
                      </a:r>
                      <a:r>
                        <a:rPr lang="es-US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Air France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008894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6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Cargolux</a:t>
                      </a: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Airlines International, S.A.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463538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7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Montserrat" panose="00000500000000000000" pitchFamily="2" charset="0"/>
                          <a:cs typeface="Montserrat" panose="00000500000000000000" pitchFamily="2" charset="0"/>
                        </a:rPr>
                        <a:t>DHL Express México, S.A. de C.V. (</a:t>
                      </a:r>
                      <a:r>
                        <a:rPr lang="es-MX" sz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ea typeface="Montserrat" panose="00000500000000000000" pitchFamily="2" charset="0"/>
                          <a:cs typeface="Montserrat" panose="00000500000000000000" pitchFamily="2" charset="0"/>
                        </a:rPr>
                        <a:t>Cargojet</a:t>
                      </a: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Montserrat" panose="00000500000000000000" pitchFamily="2" charset="0"/>
                          <a:cs typeface="Montserrat" panose="00000500000000000000" pitchFamily="2" charset="0"/>
                        </a:rPr>
                        <a:t>)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030132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Emirates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464913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9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Aerotransportes Mas de Carga S.A. de C.V. (Mas Air)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30789499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10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Lufthansa Cargo </a:t>
                      </a:r>
                      <a:r>
                        <a:rPr lang="es-MX" sz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Aktiengesellschaft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12018607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11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Aero Transportes de Carga Unión, S.A. de C.V.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962400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12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Montserrat" panose="00000500000000000000" pitchFamily="2" charset="0"/>
                          <a:cs typeface="Montserrat" panose="00000500000000000000" pitchFamily="2" charset="0"/>
                        </a:rPr>
                        <a:t>Amerijet International Inc.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011151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13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Qatar Airways Company Q.C.S.C.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870682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14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United</a:t>
                      </a: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MX" sz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Parcel</a:t>
                      </a: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MX" sz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Service</a:t>
                      </a: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CO.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76913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15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TM Aerolíneas, S.A. de C.V. (</a:t>
                      </a:r>
                      <a:r>
                        <a:rPr lang="es-MX" sz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Awesome</a:t>
                      </a: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 Cargo)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.</a:t>
                      </a:r>
                      <a:endParaRPr lang="es-MX" sz="120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0976074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16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Air Canadá</a:t>
                      </a: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s-MX" sz="1200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</a:pPr>
                      <a:endParaRPr lang="es-MX" sz="1200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736289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17</a:t>
                      </a:r>
                      <a:endParaRPr lang="es-MX" sz="1800" dirty="0">
                        <a:latin typeface="Patria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Aeronaves T S M, S.A. de C.V.</a:t>
                      </a:r>
                      <a:endParaRPr lang="es-MX" sz="1800" dirty="0">
                        <a:latin typeface="Patria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377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s-MX" sz="1200" kern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lang="es-ES" sz="1200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6665518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</a:pPr>
                      <a:r>
                        <a:rPr lang="es-MX" sz="120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>
                        <a:lnSpc>
                          <a:spcPct val="107000"/>
                        </a:lnSpc>
                      </a:pPr>
                      <a:r>
                        <a:rPr lang="es-MX" sz="120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La Nueva Aerolínea, S.A. (Copa Cargo)</a:t>
                      </a: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s-MX" sz="1200" dirty="0">
                        <a:effectLst/>
                        <a:latin typeface="Patria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</a:pPr>
                      <a:endParaRPr lang="es-MX" sz="1200" dirty="0">
                        <a:solidFill>
                          <a:srgbClr val="000000"/>
                        </a:solidFill>
                        <a:effectLst/>
                        <a:latin typeface="Patria"/>
                        <a:ea typeface="Times New Roman" panose="02020603050405020304" pitchFamily="18" charset="0"/>
                        <a:cs typeface="Calibri" panose="020F0502020204030204" pitchFamily="34" charset="0"/>
                      </a:endParaRPr>
                    </a:p>
                  </a:txBody>
                  <a:tcPr marL="42471" marR="42471" marT="0" marB="0" anchor="ctr">
                    <a:lnL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92017240"/>
                  </a:ext>
                </a:extLst>
              </a:tr>
            </a:tbl>
          </a:graphicData>
        </a:graphic>
      </p:graphicFrame>
      <p:sp>
        <p:nvSpPr>
          <p:cNvPr id="3" name="CuadroTexto 2">
            <a:extLst>
              <a:ext uri="{FF2B5EF4-FFF2-40B4-BE49-F238E27FC236}">
                <a16:creationId xmlns:a16="http://schemas.microsoft.com/office/drawing/2014/main" id="{92820F45-2192-D0BE-3489-31B2EFF4316F}"/>
              </a:ext>
            </a:extLst>
          </p:cNvPr>
          <p:cNvSpPr txBox="1"/>
          <p:nvPr/>
        </p:nvSpPr>
        <p:spPr>
          <a:xfrm>
            <a:off x="479194" y="5580680"/>
            <a:ext cx="8109968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just" defTabSz="2160301"/>
            <a:r>
              <a:rPr lang="es-ES" sz="1400" dirty="0">
                <a:latin typeface="Patria"/>
                <a:ea typeface="Calibri" panose="020F0502020204030204" pitchFamily="34" charset="0"/>
                <a:cs typeface="Times New Roman" panose="02020603050405020304" pitchFamily="18" charset="0"/>
              </a:rPr>
              <a:t>Las aerolíneas </a:t>
            </a:r>
            <a:r>
              <a:rPr lang="es-ES" sz="1400" b="1" dirty="0">
                <a:latin typeface="Patria"/>
                <a:ea typeface="Calibri" panose="020F0502020204030204" pitchFamily="34" charset="0"/>
                <a:cs typeface="Times New Roman" panose="02020603050405020304" pitchFamily="18" charset="0"/>
              </a:rPr>
              <a:t>Volaris, </a:t>
            </a:r>
            <a:r>
              <a:rPr lang="es-ES" sz="1400" b="1" dirty="0" err="1">
                <a:latin typeface="Patria"/>
                <a:ea typeface="Calibri" panose="020F0502020204030204" pitchFamily="34" charset="0"/>
                <a:cs typeface="Times New Roman" panose="02020603050405020304" pitchFamily="18" charset="0"/>
              </a:rPr>
              <a:t>Conviasa</a:t>
            </a:r>
            <a:r>
              <a:rPr lang="es-ES" sz="1400" b="1" dirty="0">
                <a:latin typeface="Patria"/>
                <a:ea typeface="Calibri" panose="020F0502020204030204" pitchFamily="34" charset="0"/>
                <a:cs typeface="Times New Roman" panose="02020603050405020304" pitchFamily="18" charset="0"/>
              </a:rPr>
              <a:t>, Mexicana, Viva Aerobús y Aeroméxico </a:t>
            </a:r>
            <a:r>
              <a:rPr lang="es-ES" sz="1400" dirty="0">
                <a:latin typeface="Patria"/>
                <a:ea typeface="Calibri" panose="020F0502020204030204" pitchFamily="34" charset="0"/>
                <a:cs typeface="Times New Roman" panose="02020603050405020304" pitchFamily="18" charset="0"/>
              </a:rPr>
              <a:t>realizan operaciones mixtas </a:t>
            </a:r>
            <a:r>
              <a:rPr lang="es-ES" sz="1400" b="1" dirty="0">
                <a:latin typeface="Patria"/>
                <a:ea typeface="Calibri" panose="020F0502020204030204" pitchFamily="34" charset="0"/>
                <a:cs typeface="Times New Roman" panose="02020603050405020304" pitchFamily="18" charset="0"/>
              </a:rPr>
              <a:t> (pasajeros y carga)</a:t>
            </a:r>
            <a:r>
              <a:rPr lang="es-ES" sz="1400" dirty="0">
                <a:latin typeface="Patria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894681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CE8846-E872-759B-E3DA-242B4DA86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áfico 4">
            <a:extLst>
              <a:ext uri="{FF2B5EF4-FFF2-40B4-BE49-F238E27FC236}">
                <a16:creationId xmlns:a16="http://schemas.microsoft.com/office/drawing/2014/main" id="{C3DB9D86-FD4A-331C-CEE6-3A03DC0692DC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l="12711" r="12711"/>
          <a:stretch/>
        </p:blipFill>
        <p:spPr>
          <a:xfrm>
            <a:off x="0" y="17252"/>
            <a:ext cx="9144000" cy="6858000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8179D8E2-B851-3E9E-E220-2204A229589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569307" y="166650"/>
            <a:ext cx="2095500" cy="520451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427C2B58-4AEA-F8A2-A69C-BE83647B16BB}"/>
              </a:ext>
            </a:extLst>
          </p:cNvPr>
          <p:cNvSpPr txBox="1"/>
          <p:nvPr/>
        </p:nvSpPr>
        <p:spPr>
          <a:xfrm>
            <a:off x="180428" y="245248"/>
            <a:ext cx="630116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2400" b="1" dirty="0">
                <a:solidFill>
                  <a:srgbClr val="691B32"/>
                </a:solidFill>
                <a:latin typeface="Patria" pitchFamily="50" charset="0"/>
              </a:rPr>
              <a:t>Aerolíneas de carga que operan en el AIFA</a:t>
            </a:r>
          </a:p>
        </p:txBody>
      </p:sp>
      <p:graphicFrame>
        <p:nvGraphicFramePr>
          <p:cNvPr id="3" name="Tabla 2">
            <a:extLst>
              <a:ext uri="{FF2B5EF4-FFF2-40B4-BE49-F238E27FC236}">
                <a16:creationId xmlns:a16="http://schemas.microsoft.com/office/drawing/2014/main" id="{56AE5BF3-E97F-63F4-D93E-F9995EB34C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131430"/>
              </p:ext>
            </p:extLst>
          </p:nvPr>
        </p:nvGraphicFramePr>
        <p:xfrm>
          <a:off x="180428" y="721605"/>
          <a:ext cx="8791043" cy="5770324"/>
        </p:xfrm>
        <a:graphic>
          <a:graphicData uri="http://schemas.openxmlformats.org/drawingml/2006/table">
            <a:tbl>
              <a:tblPr/>
              <a:tblGrid>
                <a:gridCol w="820236">
                  <a:extLst>
                    <a:ext uri="{9D8B030D-6E8A-4147-A177-3AD203B41FA5}">
                      <a16:colId xmlns:a16="http://schemas.microsoft.com/office/drawing/2014/main" val="2942414449"/>
                    </a:ext>
                  </a:extLst>
                </a:gridCol>
                <a:gridCol w="4663833">
                  <a:extLst>
                    <a:ext uri="{9D8B030D-6E8A-4147-A177-3AD203B41FA5}">
                      <a16:colId xmlns:a16="http://schemas.microsoft.com/office/drawing/2014/main" val="180089656"/>
                    </a:ext>
                  </a:extLst>
                </a:gridCol>
                <a:gridCol w="1653487">
                  <a:extLst>
                    <a:ext uri="{9D8B030D-6E8A-4147-A177-3AD203B41FA5}">
                      <a16:colId xmlns:a16="http://schemas.microsoft.com/office/drawing/2014/main" val="3585254224"/>
                    </a:ext>
                  </a:extLst>
                </a:gridCol>
                <a:gridCol w="1653487">
                  <a:extLst>
                    <a:ext uri="{9D8B030D-6E8A-4147-A177-3AD203B41FA5}">
                      <a16:colId xmlns:a16="http://schemas.microsoft.com/office/drawing/2014/main" val="77313284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Patria" panose="020F0502020204030204"/>
                        </a:rPr>
                        <a:t>No.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Patria" panose="020F0502020204030204"/>
                        </a:rPr>
                        <a:t>Aerolínea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950" b="1" i="0" u="none" strike="noStrike">
                          <a:solidFill>
                            <a:srgbClr val="000000"/>
                          </a:solidFill>
                          <a:effectLst/>
                          <a:latin typeface="Patria" panose="020F0502020204030204"/>
                        </a:rPr>
                        <a:t>Tipo de operación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s-MX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Patria" panose="020F0502020204030204"/>
                        </a:rPr>
                        <a:t>Situación actual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89718724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1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Absa</a:t>
                      </a: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Aerolinhas</a:t>
                      </a: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 Brasileiras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5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Fletamento de Carga,</a:t>
                      </a:r>
                    </a:p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(no necesitan contrato)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35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Operando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86459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2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ABX Air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4651071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Air China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7436802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4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Atlas Air </a:t>
                      </a: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Inc</a:t>
                      </a:r>
                      <a:endParaRPr lang="es-MX" sz="950" kern="1200" dirty="0">
                        <a:solidFill>
                          <a:srgbClr val="000000"/>
                        </a:solidFill>
                        <a:effectLst/>
                        <a:latin typeface="Patria"/>
                        <a:cs typeface="Calibri" panose="020F0502020204030204" pitchFamily="34" charset="0"/>
                      </a:endParaRP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8203873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5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Berry Aviation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3917508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6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China </a:t>
                      </a: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Southern</a:t>
                      </a: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 Airlines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6737053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7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Kalitta</a:t>
                      </a: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 Air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0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3992632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8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Ethiopian</a:t>
                      </a: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 Cargo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8773389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9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Federal Express </a:t>
                      </a: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Corporation</a:t>
                      </a:r>
                      <a:endParaRPr lang="es-MX" sz="950" kern="1200" dirty="0">
                        <a:solidFill>
                          <a:srgbClr val="000000"/>
                        </a:solidFill>
                        <a:effectLst/>
                        <a:latin typeface="Patria"/>
                        <a:cs typeface="Calibri" panose="020F0502020204030204" pitchFamily="34" charset="0"/>
                      </a:endParaRP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482329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10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Galistair</a:t>
                      </a: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 Trading </a:t>
                      </a: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Limited</a:t>
                      </a:r>
                      <a:endParaRPr lang="es-MX" sz="950" kern="1200" dirty="0">
                        <a:solidFill>
                          <a:srgbClr val="000000"/>
                        </a:solidFill>
                        <a:effectLst/>
                        <a:latin typeface="Patria"/>
                        <a:cs typeface="Calibri" panose="020F0502020204030204" pitchFamily="34" charset="0"/>
                      </a:endParaRP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6225552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11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National</a:t>
                      </a: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 Air Cargo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6649882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12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Silway West Airlines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5531403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13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Sky Lease Cargo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97635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14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Ukraine</a:t>
                      </a: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 Air Alliance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0901936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15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Western Global Airlines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3907775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16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Lan</a:t>
                      </a: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 Cargo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7868715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17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Mcnelly Charter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2033393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18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Usa Jet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6771639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19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Lynden Air Cargo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268315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20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Air Express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9019822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21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Everts Air Cargo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6555244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22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Kalitta Charters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39348020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23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Aero Sucre, S.A.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6019813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24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Uniworld</a:t>
                      </a: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 Air Cargo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76218659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25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Latam</a:t>
                      </a: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 Cargo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2328588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26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Aerolíneas Argentinas Cargo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2786669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27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Global </a:t>
                      </a: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Crossing</a:t>
                      </a: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 Airlines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7637348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28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Saudía</a:t>
                      </a: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 Cargo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088253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29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IFL </a:t>
                      </a: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Group</a:t>
                      </a:r>
                      <a:endParaRPr lang="es-MX" sz="950" kern="1200" dirty="0">
                        <a:solidFill>
                          <a:srgbClr val="000000"/>
                        </a:solidFill>
                        <a:effectLst/>
                        <a:latin typeface="Patria"/>
                        <a:cs typeface="Calibri" panose="020F0502020204030204" pitchFamily="34" charset="0"/>
                      </a:endParaRP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87702777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30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Suparna</a:t>
                      </a: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 Airlines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743503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31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Legends</a:t>
                      </a: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 Airways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0071959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32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Cavok</a:t>
                      </a: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cs typeface="Calibri" panose="020F0502020204030204" pitchFamily="34" charset="0"/>
                        </a:rPr>
                        <a:t> Air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endParaRPr lang="es-MX" sz="1000" kern="1200" dirty="0">
                        <a:solidFill>
                          <a:srgbClr val="000000"/>
                        </a:solidFill>
                        <a:effectLst/>
                        <a:latin typeface="Patria"/>
                        <a:cs typeface="Calibri" panose="020F0502020204030204" pitchFamily="34" charset="0"/>
                      </a:endParaRP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endParaRPr lang="es-MX" sz="1000" kern="1200" dirty="0">
                        <a:solidFill>
                          <a:srgbClr val="000000"/>
                        </a:solidFill>
                        <a:effectLst/>
                        <a:latin typeface="Patria"/>
                        <a:cs typeface="Calibri" panose="020F0502020204030204" pitchFamily="34" charset="0"/>
                      </a:endParaRP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6718015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+mn-ea"/>
                          <a:cs typeface="Calibri" panose="020F0502020204030204" pitchFamily="34" charset="0"/>
                        </a:rPr>
                        <a:t>33</a:t>
                      </a:r>
                    </a:p>
                  </a:txBody>
                  <a:tcPr marL="5629" marR="5629" marT="5629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+mn-ea"/>
                          <a:cs typeface="Calibri" panose="020F0502020204030204" pitchFamily="34" charset="0"/>
                        </a:rPr>
                        <a:t>China Cargo Airlines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3618302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+mn-ea"/>
                          <a:cs typeface="Calibri" panose="020F0502020204030204" pitchFamily="34" charset="0"/>
                        </a:rPr>
                        <a:t>34</a:t>
                      </a:r>
                    </a:p>
                  </a:txBody>
                  <a:tcPr marL="5629" marR="5629" marT="5629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+mn-ea"/>
                          <a:cs typeface="Calibri" panose="020F0502020204030204" pitchFamily="34" charset="0"/>
                        </a:rPr>
                        <a:t>Air Atlanta Europe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endParaRPr lang="es-MX" sz="1000" kern="1200" dirty="0">
                        <a:solidFill>
                          <a:srgbClr val="000000"/>
                        </a:solidFill>
                        <a:effectLst/>
                        <a:latin typeface="Patria"/>
                        <a:cs typeface="Calibri" panose="020F0502020204030204" pitchFamily="34" charset="0"/>
                      </a:endParaRP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endParaRPr lang="es-MX" sz="1000" kern="1200" dirty="0">
                        <a:solidFill>
                          <a:srgbClr val="000000"/>
                        </a:solidFill>
                        <a:effectLst/>
                        <a:latin typeface="Patria"/>
                        <a:cs typeface="Calibri" panose="020F0502020204030204" pitchFamily="34" charset="0"/>
                      </a:endParaRP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31322386"/>
                  </a:ext>
                </a:extLst>
              </a:tr>
              <a:tr h="108000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+mn-ea"/>
                          <a:cs typeface="Calibri" panose="020F0502020204030204" pitchFamily="34" charset="0"/>
                        </a:rPr>
                        <a:t>35</a:t>
                      </a:r>
                    </a:p>
                  </a:txBody>
                  <a:tcPr marL="5629" marR="5629" marT="5629" marB="0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950" kern="1200" dirty="0" err="1">
                          <a:solidFill>
                            <a:srgbClr val="000000"/>
                          </a:solidFill>
                          <a:effectLst/>
                          <a:latin typeface="Patria"/>
                          <a:ea typeface="+mn-ea"/>
                          <a:cs typeface="Calibri" panose="020F0502020204030204" pitchFamily="34" charset="0"/>
                        </a:rPr>
                        <a:t>Ameristar</a:t>
                      </a:r>
                      <a:r>
                        <a:rPr lang="es-MX" sz="950" kern="1200" dirty="0">
                          <a:solidFill>
                            <a:srgbClr val="000000"/>
                          </a:solidFill>
                          <a:effectLst/>
                          <a:latin typeface="Patria"/>
                          <a:ea typeface="+mn-ea"/>
                          <a:cs typeface="Calibri" panose="020F0502020204030204" pitchFamily="34" charset="0"/>
                        </a:rPr>
                        <a:t> Air Cargo</a:t>
                      </a: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endParaRPr lang="es-MX" sz="950" kern="1200" dirty="0">
                        <a:solidFill>
                          <a:srgbClr val="000000"/>
                        </a:solidFill>
                        <a:effectLst/>
                        <a:latin typeface="Patria"/>
                        <a:cs typeface="Calibri" panose="020F0502020204030204" pitchFamily="34" charset="0"/>
                      </a:endParaRP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lnSpc>
                          <a:spcPct val="107000"/>
                        </a:lnSpc>
                        <a:buNone/>
                      </a:pPr>
                      <a:endParaRPr lang="es-MX" sz="950" kern="1200" dirty="0">
                        <a:solidFill>
                          <a:srgbClr val="000000"/>
                        </a:solidFill>
                        <a:effectLst/>
                        <a:latin typeface="Patria"/>
                        <a:cs typeface="Calibri" panose="020F0502020204030204" pitchFamily="34" charset="0"/>
                      </a:endParaRPr>
                    </a:p>
                  </a:txBody>
                  <a:tcPr marL="5629" marR="5629" marT="5629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24527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63119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áfico 6">
            <a:extLst>
              <a:ext uri="{FF2B5EF4-FFF2-40B4-BE49-F238E27FC236}">
                <a16:creationId xmlns:a16="http://schemas.microsoft.com/office/drawing/2014/main" id="{C43148BD-3D42-6BEB-B6AD-F407C24044B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0" y="2462212"/>
            <a:ext cx="5600700" cy="1362075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548EF1E7-857B-47D9-1822-84E793703282}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2711" r="12711"/>
          <a:stretch/>
        </p:blipFill>
        <p:spPr>
          <a:xfrm>
            <a:off x="0" y="19050"/>
            <a:ext cx="9144000" cy="685800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9D371D50-9A7F-6F04-12D1-47DF0FE88068}"/>
              </a:ext>
            </a:extLst>
          </p:cNvPr>
          <p:cNvSpPr txBox="1"/>
          <p:nvPr/>
        </p:nvSpPr>
        <p:spPr>
          <a:xfrm>
            <a:off x="728662" y="2735800"/>
            <a:ext cx="4486275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400" dirty="0">
                <a:solidFill>
                  <a:srgbClr val="691B32"/>
                </a:solidFill>
                <a:latin typeface="Patria" pitchFamily="50" charset="0"/>
              </a:rPr>
              <a:t>GRACIAS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73D18574-8BB7-C948-84AD-68D4726EA3E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2911" y="5109493"/>
            <a:ext cx="2681289" cy="665941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F8EAC005-DFAD-4FD8-3432-5751670C02B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164" y="974697"/>
            <a:ext cx="5411425" cy="5737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235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11763</TotalTime>
  <Words>769</Words>
  <Application>Microsoft Office PowerPoint</Application>
  <PresentationFormat>Carta (216 x 279 mm)</PresentationFormat>
  <Paragraphs>362</Paragraphs>
  <Slides>10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8" baseType="lpstr">
      <vt:lpstr>Aptos</vt:lpstr>
      <vt:lpstr>Arial</vt:lpstr>
      <vt:lpstr>Calibri</vt:lpstr>
      <vt:lpstr>Calibri Light</vt:lpstr>
      <vt:lpstr>Montserrat</vt:lpstr>
      <vt:lpstr>Noto Sans</vt:lpstr>
      <vt:lpstr>Patria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AIFA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AIFA</dc:creator>
  <cp:lastModifiedBy>AIFA</cp:lastModifiedBy>
  <cp:revision>1007</cp:revision>
  <cp:lastPrinted>2025-11-17T22:42:06Z</cp:lastPrinted>
  <dcterms:created xsi:type="dcterms:W3CDTF">2024-11-27T18:01:56Z</dcterms:created>
  <dcterms:modified xsi:type="dcterms:W3CDTF">2026-09-09T20:25:55Z</dcterms:modified>
</cp:coreProperties>
</file>